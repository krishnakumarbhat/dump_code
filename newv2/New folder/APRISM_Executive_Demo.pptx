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47472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FB4C2"/>
                </a:solidFill>
                <a:latin typeface="Calibri"/>
              </a:defRPr>
            </a:pPr>
            <a:r>
              <a:t>SLIDE 1  ·  THE CLUSTER SLICING FAILURE  ·  A-PRISM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a 300-Log Distributed Replay Drops 360,000 Frames — and Where AF Dynamic Alignment Becomes the Wall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75488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35E0A1"/>
                </a:solidFill>
                <a:latin typeface="Calibri"/>
              </a:defRPr>
            </a:pPr>
            <a:r>
              <a:t>THE ATTEMPT — Cluster Chunking (20 Nodes)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74519"/>
            <a:ext cx="347472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01952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Log Chunk 1-20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258568"/>
            <a:ext cx="347472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Log Chunk 21-40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42615"/>
            <a:ext cx="347472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67004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Log Chunk 41-60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26663"/>
            <a:ext cx="347472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54096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Log Chunk 61-80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410711"/>
            <a:ext cx="347472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438144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Log Chunk 281–300 (Node 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57600"/>
            <a:ext cx="3474720" cy="22860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75887"/>
            <a:ext cx="33832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700" b="1">
                <a:solidFill>
                  <a:srgbClr val="FFFFFF"/>
                </a:solidFill>
                <a:latin typeface="Calibri"/>
              </a:defRPr>
            </a:pPr>
            <a:r>
              <a:t>OVERLAP ZONE: Log 16 → Node 2 (16-log warm-up chunk)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39"/>
            <a:ext cx="4114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9FB4C2"/>
                </a:solidFill>
                <a:latin typeface="Calibri"/>
              </a:defRPr>
            </a:pPr>
            <a:r>
              <a:t>• 300 logs split into 20 HPCC nodes.</a:t>
            </a:r>
            <a:br/>
            <a:r>
              <a:t>• Each node gets 15 logs + 1 warm-up overlap (16 total).</a:t>
            </a:r>
            <a:br/>
            <a:r>
              <a:t>• EKF tracker adapts in ~10–20 frames inside warm-up.</a:t>
            </a:r>
            <a:br/>
            <a:r>
              <a:t>• 16-log overlap successfully bootstraps ego-motion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03120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41B6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23444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325880"/>
            <a:ext cx="5577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FAILURE — FMCW Pipeline Wall (AF Dynamic Alignment)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ADC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10528" y="2084831"/>
            <a:ext cx="137160" cy="54864"/>
          </a:xfrm>
          <a:prstGeom prst="rightArrow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5392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Range FFT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223760" y="2084831"/>
            <a:ext cx="137160" cy="54864"/>
          </a:xfrm>
          <a:prstGeom prst="rightArrow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78624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Doppler FFT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36992" y="2084831"/>
            <a:ext cx="137160" cy="54864"/>
          </a:xfrm>
          <a:prstGeom prst="rightArrow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91856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1856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CFAR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650224" y="2084831"/>
            <a:ext cx="137160" cy="54864"/>
          </a:xfrm>
          <a:prstGeom prst="rightArrow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05088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05088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CDC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363456" y="2084831"/>
            <a:ext cx="137160" cy="54864"/>
          </a:xfrm>
          <a:prstGeom prst="rightArrow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18320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Beamforming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076688" y="2084831"/>
            <a:ext cx="137160" cy="54864"/>
          </a:xfrm>
          <a:prstGeom prst="rightArrow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31552" y="20116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31552" y="2029968"/>
            <a:ext cx="6400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650" b="0">
                <a:solidFill>
                  <a:srgbClr val="FFFFFF"/>
                </a:solidFill>
                <a:latin typeface="Calibri"/>
              </a:defRPr>
            </a:pPr>
            <a:r>
              <a:t>AF Dynamic Alignment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192024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2121408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FF6B6B"/>
                </a:solidFill>
                <a:latin typeface="Calibri"/>
              </a:defRPr>
            </a:pPr>
            <a:r>
              <a:t>THE WALL</a:t>
            </a:r>
            <a:br/>
            <a:r>
              <a:t>30–40 logs (400 frames / 20 min)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2697480"/>
            <a:ext cx="55778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FB4C2"/>
                </a:solidFill>
                <a:latin typeface="Calibri"/>
              </a:defRPr>
            </a:pPr>
            <a:r>
              <a:t>FMCW pipeline requires 30–40 logs (~400 frames, $K_0=0.0025$) for boresight convergence.</a:t>
            </a:r>
            <a:br/>
            <a:r>
              <a:t>A 1-log warm-up (16-log overlap) is mathematically impossible for AF Alignment.</a:t>
            </a:r>
            <a:br/>
            <a:r>
              <a:t>Result: 360,000 frames dropped across the 20-node cluster replay due to Tier-2 angle KPI violations.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384048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41B6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80644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852160"/>
            <a:ext cx="10424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TAKEAWAY  ·  Cluster chunking with 16-log overlap bootstraps the Kalman tracker, but AF Dynamic Alignment demands 30–40 logs to converge — making a 1-log warm-up impossible and forcing 360k dropped frames.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47472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FB4C2"/>
                </a:solidFill>
                <a:latin typeface="Calibri"/>
              </a:defRPr>
            </a:pPr>
            <a:r>
              <a:t>SLIDE 2  ·  BREAKTHROUGH 1  ·  PAPER 1 (IEEE T-IV / IV 2027)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Overcoming the Cold-Start Barrier via Dual-Horizon Dynamic Alignment + Preflight Header Seeding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35E0A1"/>
                </a:solidFill>
                <a:latin typeface="Calibri"/>
              </a:defRPr>
            </a:pPr>
            <a:r>
              <a:t>FORMULATION &amp;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$K_{\mathrm{DA}}(N) = K_{\mathrm{fast}} e^{-\alpha N} + K_{\mathrm{slow}}$</a:t>
            </a:r>
            <a:br/>
            <a:r>
              <a:t>$\quad \; K_{\mathrm{fast}}=0.05, \; K_{\mathrm{slow}}=0.0025, \; \alpha=0.08$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41B6FF"/>
                </a:solidFill>
                <a:latin typeface="Calibri"/>
              </a:defRPr>
            </a:pPr>
            <a:r>
              <a:t>Stationary Doppler Gate:</a:t>
            </a:r>
            <a:br/>
            <a:r>
              <a:t>$|v_r + v_{\mathrm{ego}} \cos\theta| \le \epsilon$  (clutter rejection)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Preflight Seeding (t = 0):</a:t>
            </a:r>
            <a:br/>
            <a:r>
              <a:t>Converged header $\theta_{\mathrm{az}}=-1.145^\circ$ injected at replay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6634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FB4C2"/>
                </a:solidFill>
                <a:latin typeface="Calibri"/>
              </a:defRPr>
            </a:pPr>
            <a:r>
              <a:t>INTUITION:</a:t>
            </a:r>
            <a:br/>
            <a:r>
              <a:t>• Straightening crooked glasses in the first 2 seconds.</a:t>
            </a:r>
            <a:br/>
            <a:r>
              <a:t>• Exponential decay pulls gain from 0.05 → 0.0025 in 46 frames.</a:t>
            </a:r>
            <a:br/>
            <a:r>
              <a:t>• Doppler stationary gate prevents clutter contamination.</a:t>
            </a:r>
            <a:br/>
            <a:r>
              <a:t>• Preflight seeding eliminates replay latency entirely.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35E0A1"/>
                </a:solidFill>
                <a:latin typeface="Calibri"/>
              </a:defRPr>
            </a:pPr>
            <a:r>
              <a:t>EMPIRICAL RESULT — BORESIGHT LOCK</a:t>
            </a:r>
          </a:p>
        </p:txBody>
      </p:sp>
      <p:pic>
        <p:nvPicPr>
          <p:cNvPr id="13" name="Picture 12" descr="plot_dual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4846320" cy="2743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09360" y="4663440"/>
            <a:ext cx="4846320" cy="822960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572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LOCK FRAME 46  |  2.3 s</a:t>
            </a:r>
            <a:br/>
            <a:r>
              <a:t>BASELINE: 400 frames (20 min)  →  360k frames saved per 20-node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424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TAKEAWAY  ·  Our Dual-Horizon exponential gain schedule locks sensor boresight in 46 frames (&lt;2.3 s) instead of 400 frames, completely eliminating the 30-log cluster warm-up barrier.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47472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FB4C2"/>
                </a:solidFill>
                <a:latin typeface="Calibri"/>
              </a:defRPr>
            </a:pPr>
            <a:r>
              <a:t>SLIDE 3  ·  BREAKTHROUGH 2  ·  PAPER 2 (IEEE TAES / RADAR CONF OCT 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Exploiting Specular Multipath — Virtual Aperture EKF, Rank-1 Bearing Invariants, and Adaptive Gating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VIRTUAL APERTURE  ·  THE 15.2° MIRROR FLAW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6B6B"/>
                </a:solidFill>
                <a:latin typeface="Calibri"/>
              </a:defRPr>
            </a:pPr>
            <a:r>
              <a:t>WRONG (Target Mirroring):</a:t>
            </a:r>
            <a:br/>
            <a:r>
              <a:t>$\mathbf{p}^* = \mathbf{p} - 2(\hat{\mathbf{n}} \cdot \mathbf{p} - d)\hat{\mathbf{n}}$</a:t>
            </a:r>
            <a:br/>
            <a:r>
              <a:t>→ Bearing error $15.19^\circ$ ($8.0$ m at $30$ m)</a:t>
            </a:r>
            <a:br/>
            <a:r>
              <a:t>Range = exact (zero error); angle = broken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4754880" cy="18288"/>
          </a:xfrm>
          <a:prstGeom prst="roundRect">
            <a:avLst>
              <a:gd name="adj" fmla="val 5000"/>
            </a:avLst>
          </a:prstGeom>
          <a:solidFill>
            <a:srgbClr val="1F3547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35E0A1"/>
                </a:solidFill>
                <a:latin typeface="Calibri"/>
              </a:defRPr>
            </a:pPr>
            <a:r>
              <a:t>CORRECT (Virtual Sensor Origin):</a:t>
            </a:r>
            <a:br/>
            <a:r>
              <a:t>$\mathbf{s}^* = 2d\hat{\mathbf{n}}$  →  $\mathbf{p} - \mathbf{p}_s = 2d\hat{\mathbf{n}}$</a:t>
            </a:r>
            <a:br/>
            <a:r>
              <a:t>Rank-1 Invariant: $\Vert{}\mathbf{p} - \mathbf{p}_s - 2d\hat{\mathbf{n}}\Vert{} = 0$</a:t>
            </a:r>
            <a:br/>
            <a:r>
              <a:t>Sensor-origin mirror eliminates $15.19^\circ$ bearing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41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30752"/>
            <a:ext cx="4572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EKF AUGMENTATION: $\mathbf{R}_{\mathrm{eff}} = \mathrm{diag}(\sigma^2) + \mathbf{J}_\xi \boldsymbol{\Sigma}_\xi \mathbf{J}_\xi^T$</a:t>
            </a:r>
            <a:br/>
            <a:r>
              <a:t>→ Turns specular reflection into second virtual eye</a:t>
            </a:r>
            <a:br/>
            <a:r>
              <a:t>Position RMSE: $1.969 \mathrm{m} \rightarrow 0.651 \mathrm{m}$  (–67%)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1208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4846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41B6FF"/>
                </a:solidFill>
                <a:latin typeface="Calibri"/>
              </a:defRPr>
            </a:pPr>
            <a:r>
              <a:t>KINEMATICS-AWARE ADAPTIVE GATING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48463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F6B6B"/>
                </a:solidFill>
                <a:latin typeface="Calibri"/>
              </a:defRPr>
            </a:pPr>
            <a:r>
              <a:t>WHY IMM GATING FAILS:</a:t>
            </a:r>
            <a:br/>
            <a:r>
              <a:t>• Mode probability switches ONLY after association.</a:t>
            </a:r>
            <a:br/>
            <a:r>
              <a:t>• During $6 \mathrm{m/s}^2$ cut-in: causal circularity (key locked inside box).</a:t>
            </a:r>
            <a:br/>
            <a:r>
              <a:t>• Cut-in recall: $88.0\%$ (IMM) vs $99.6\%$ (adaptive).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ADAPTIVE FORMULATION:</a:t>
            </a:r>
            <a:br/>
            <a:r>
              <a:t>$\gamma_{\mathrm{ad}} = \gamma_0 \left(1 + 0.8 \frac{\Vert{}\mathbf{a}\Vert{}}{a_{\mathrm{max}}} + 0.5 \frac{\Vert{}\mathbf{y}\Vert{}^2}{\mathrm{Tr}(\mathbf{S})}\right)$</a:t>
            </a:r>
            <a:br/>
            <a:r>
              <a:t>Range: $\gamma \in [9.21, \; 40.0]$  ·  Hard-clamped for runtime 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35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GATING RESULTS:</a:t>
            </a:r>
            <a:br/>
            <a:r>
              <a:t>Cut-in recall  $86.3\% \rightarrow 99.6\%$</a:t>
            </a:r>
            <a:br/>
            <a:r>
              <a:t>Innovation dilation + acceleration widening</a:t>
            </a:r>
            <a:br/>
            <a:r>
              <a:t>Frozen rank gate $S_{(231)} \le q \le S_{(247)}$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92040"/>
            <a:ext cx="4846320" cy="54864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37760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SAFETY CONTRACT: XOR Sentinel  ·  $\mathrm{APRISM\_ASSIMILATED\_MIRROR\_PROB} = -1.0$  ·  Zero-risk feature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424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TAKEAWAY  ·  Correcting the 15.19° mirror angle flaw and assimilating reflections into the EKF cuts position error by 67%, while adaptive gating raises cut-in recall to 99.6%.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47472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9FB4C2"/>
                </a:solidFill>
                <a:latin typeface="Calibri"/>
              </a:defRPr>
            </a:pPr>
            <a:r>
              <a:t>SLIDE 4  ·  REAL VEHICLE LOG VERIFICATION  ·  PUBLICATION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155 Real Fleet Scans — Production Integration Flags Active — Ready for IEEE &amp; Patent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5E0A1"/>
                </a:solidFill>
                <a:latin typeface="Calibri"/>
              </a:defRPr>
            </a:pPr>
            <a:r>
              <a:t>PRODUCTION INTEGRATION  ·  155 SCANS  ·  71,779 DETECTIONS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38528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35E0A1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920240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1938528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35E0A1"/>
                </a:solidFill>
                <a:latin typeface="Calibri"/>
              </a:defRPr>
            </a:pPr>
            <a:r>
              <a:t>Baseline (OFF)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938528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35E0A1"/>
                </a:solidFill>
                <a:latin typeface="Calibri"/>
              </a:defRPr>
            </a:pPr>
            <a:r>
              <a:t>A-PRISM (ON)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920240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16283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1938528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1">
                <a:solidFill>
                  <a:srgbClr val="35E0A1"/>
                </a:solidFill>
                <a:latin typeface="Calibri"/>
              </a:defRPr>
            </a:pPr>
            <a:r>
              <a:t>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267712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86000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267712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2286000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Baseline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267712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2286000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40 / 40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267712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286000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Verified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615184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633472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Ghost Assimilation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615184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1992" y="2633472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0 (suppressed)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2615184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2633472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10,130 (151/155)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615184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2" y="2633472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+100%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962656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980944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Associations (155 scans)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2962656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1992" y="2980944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9,478 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962656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0712" y="2980944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9,131 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2962656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3752" y="2980944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–347 (2-scan)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310128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3328416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Velocity Shift ($v_x$)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4560" y="3310128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1992" y="3328416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3310128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0712" y="3328416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$0.910 / 3.743$ m/s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3310128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3752" y="3328416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Refined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3657600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3675888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Position RMSE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3657600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21992" y="3675888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$1.969$ 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83280" y="3657600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0712" y="3675888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$0.651$ 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3657600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73752" y="3675888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–67.0%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4005072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" y="4023360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Module Build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94560" y="4005072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1992" y="4023360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MSVC C++17 clean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83280" y="4005072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10712" y="4023360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Zero regression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46320" y="4005072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73752" y="4023360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Bit-identical OFF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4352544"/>
            <a:ext cx="128016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" y="4370832"/>
            <a:ext cx="12252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Safety Flags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94560" y="4352544"/>
            <a:ext cx="118872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21992" y="4370832"/>
            <a:ext cx="113385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83280" y="4352544"/>
            <a:ext cx="146304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10712" y="4370832"/>
            <a:ext cx="140817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#if APRISM_*_ENABLE == 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46320" y="4352544"/>
            <a:ext cx="1097280" cy="292608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73752" y="4370832"/>
            <a:ext cx="104241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700" b="0">
                <a:solidFill>
                  <a:srgbClr val="FFFFFF"/>
                </a:solidFill>
                <a:latin typeface="Calibri"/>
              </a:defRPr>
            </a:pPr>
            <a:r>
              <a:t>Zero-risk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123444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92240" y="132588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41B6FF"/>
                </a:solidFill>
                <a:latin typeface="Calibri"/>
              </a:defRPr>
            </a:pPr>
            <a:r>
              <a:t>FLEET REPLAY  ·  PLOT &amp; ROADMAP</a:t>
            </a:r>
          </a:p>
        </p:txBody>
      </p:sp>
      <p:pic>
        <p:nvPicPr>
          <p:cNvPr id="73" name="Picture 72" descr="plot_fleet_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754880" cy="228600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6492240" y="425196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0B131B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0" y="434340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FFFFFF"/>
                </a:solidFill>
                <a:latin typeface="Calibri"/>
              </a:defRPr>
            </a:pPr>
            <a:r>
              <a:t>PUBLICATION SCHEDULE</a:t>
            </a:r>
            <a:br/>
            <a:r>
              <a:t>• Paper 1 (Fast Alignment): IEEE T-IV / IV 2027 — November submission</a:t>
            </a:r>
            <a:br/>
            <a:r>
              <a:t>• Paper 2 (Virtual Aperture): IEEE TAES / Radar Conf — October 30</a:t>
            </a:r>
            <a:br/>
            <a:r>
              <a:t>• Patent IDF Appendix attached to both papers</a:t>
            </a:r>
            <a:br/>
            <a:r>
              <a:t>• All modules compiled; feature flags protect baseline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80644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12202C"/>
          </a:solidFill>
          <a:ln w="6350"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5852160"/>
            <a:ext cx="10424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TAKEAWAY  ·  All modules compiled, verified on 155 real fleet scans behind zero-risk feature flags, and ready for two IEEE and Patent (IDF) submissions.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